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F2A56"/>
                </a:solidFill>
              </a:defRPr>
            </a:pPr>
            <a:r>
              <a:t>AI-Powered Medical Appointment &amp; Disease Risk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A56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465266"/>
                </a:solidFill>
              </a:defRPr>
            </a:pPr>
            <a:r>
              <a:t>Patients need faster appointment booking and early risk awareness.</a:t>
            </a:r>
          </a:p>
          <a:p>
            <a:pPr>
              <a:defRPr sz="2200">
                <a:solidFill>
                  <a:srgbClr val="465266"/>
                </a:solidFill>
              </a:defRPr>
            </a:pPr>
            <a:r>
              <a:t>Manual triage can delay high-risk cases.</a:t>
            </a:r>
          </a:p>
          <a:p>
            <a:pPr>
              <a:defRPr sz="2200">
                <a:solidFill>
                  <a:srgbClr val="465266"/>
                </a:solidFill>
              </a:defRPr>
            </a:pPr>
            <a:r>
              <a:t>Doctors require a dashboard for quick prioritization.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A56"/>
                </a:solidFill>
              </a:defRPr>
            </a:pPr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465266"/>
                </a:solidFill>
              </a:defRPr>
            </a:pPr>
            <a:r>
              <a:t>Integrated Patient + Doctor web portal.</a:t>
            </a:r>
          </a:p>
          <a:p>
            <a:pPr>
              <a:defRPr sz="2200">
                <a:solidFill>
                  <a:srgbClr val="465266"/>
                </a:solidFill>
              </a:defRPr>
            </a:pPr>
            <a:r>
              <a:t>Risk prediction engine with model + rule guardrails.</a:t>
            </a:r>
          </a:p>
          <a:p>
            <a:pPr>
              <a:defRPr sz="2200">
                <a:solidFill>
                  <a:srgbClr val="465266"/>
                </a:solidFill>
              </a:defRPr>
            </a:pPr>
            <a:r>
              <a:t>Appointment prioritization: Immediate, Same Day, Normal.</a:t>
            </a:r>
          </a:p>
          <a:p>
            <a:pPr>
              <a:defRPr sz="2200">
                <a:solidFill>
                  <a:srgbClr val="465266"/>
                </a:solidFill>
              </a:defRPr>
            </a:pPr>
            <a:r>
              <a:t>Live UI dashboards with filters and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A5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949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4827F"/>
                </a:solidFill>
              </a:defRPr>
            </a:pPr>
            <a:r>
              <a:t>Core Stack</a:t>
            </a:r>
          </a:p>
          <a:p>
            <a:pPr>
              <a:defRPr sz="2000">
                <a:solidFill>
                  <a:srgbClr val="465266"/>
                </a:solidFill>
              </a:defRPr>
            </a:pPr>
            <a:r>
              <a:t>- Frontend: HTML/CSS/JS templates</a:t>
            </a:r>
          </a:p>
          <a:p>
            <a:pPr>
              <a:defRPr sz="2000">
                <a:solidFill>
                  <a:srgbClr val="465266"/>
                </a:solidFill>
              </a:defRPr>
            </a:pPr>
            <a:r>
              <a:t>- Backend: Flask routes + API endpoints</a:t>
            </a:r>
          </a:p>
          <a:p>
            <a:pPr>
              <a:defRPr sz="2000">
                <a:solidFill>
                  <a:srgbClr val="465266"/>
                </a:solidFill>
              </a:defRPr>
            </a:pPr>
            <a:r>
              <a:t>- Data: CSV + SQLite datasets</a:t>
            </a:r>
          </a:p>
          <a:p>
            <a:pPr>
              <a:defRPr sz="2000">
                <a:solidFill>
                  <a:srgbClr val="465266"/>
                </a:solidFill>
              </a:defRPr>
            </a:pPr>
            <a:r>
              <a:t>- Models: Decision Tree + encoded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63040"/>
            <a:ext cx="53949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4827F"/>
                </a:solidFill>
              </a:defRPr>
            </a:pPr>
            <a:r>
              <a:t>Flow</a:t>
            </a:r>
          </a:p>
          <a:p>
            <a:pPr>
              <a:defRPr sz="2000">
                <a:solidFill>
                  <a:srgbClr val="465266"/>
                </a:solidFill>
              </a:defRPr>
            </a:pPr>
            <a:r>
              <a:t>- Patient flow: login -&gt; features -&gt; booking</a:t>
            </a:r>
          </a:p>
          <a:p>
            <a:pPr>
              <a:defRPr sz="2000">
                <a:solidFill>
                  <a:srgbClr val="465266"/>
                </a:solidFill>
              </a:defRPr>
            </a:pPr>
            <a:r>
              <a:t>- Doctor flow: login -&gt; dashboard -&gt; predictions</a:t>
            </a:r>
          </a:p>
          <a:p>
            <a:pPr>
              <a:defRPr sz="2000">
                <a:solidFill>
                  <a:srgbClr val="465266"/>
                </a:solidFill>
              </a:defRPr>
            </a:pPr>
            <a:r>
              <a:t>- Risk services: /patient/predict-risk and /doctor/predict-risk</a:t>
            </a:r>
          </a:p>
          <a:p>
            <a:pPr>
              <a:defRPr sz="2000">
                <a:solidFill>
                  <a:srgbClr val="465266"/>
                </a:solidFill>
              </a:defRPr>
            </a:pPr>
            <a:r>
              <a:t>- Continuous dashboard refresh for appointments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A56"/>
                </a:solidFill>
              </a:defRPr>
            </a:pPr>
            <a:r>
              <a:t>Risk Prediction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465266"/>
                </a:solidFill>
              </a:defRPr>
            </a:pPr>
            <a:r>
              <a:t>Primary model: classification (Low / Medium / High Risk).</a:t>
            </a:r>
          </a:p>
          <a:p>
            <a:pPr>
              <a:defRPr sz="2200">
                <a:solidFill>
                  <a:srgbClr val="465266"/>
                </a:solidFill>
              </a:defRPr>
            </a:pPr>
            <a:r>
              <a:t>Hybrid decision: model output + healthcare rule checks.</a:t>
            </a:r>
          </a:p>
          <a:p>
            <a:pPr>
              <a:defRPr sz="2200">
                <a:solidFill>
                  <a:srgbClr val="465266"/>
                </a:solidFill>
              </a:defRPr>
            </a:pPr>
            <a:r>
              <a:t>Confidence breakdown and contributing factors generated.</a:t>
            </a:r>
          </a:p>
          <a:p>
            <a:pPr>
              <a:defRPr sz="2200">
                <a:solidFill>
                  <a:srgbClr val="465266"/>
                </a:solidFill>
              </a:defRPr>
            </a:pPr>
            <a:r>
              <a:t>Priority badge and recommended slot derived from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A56"/>
                </a:solidFill>
              </a:defRPr>
            </a:pPr>
            <a:r>
              <a:t>Key 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465266"/>
                </a:solidFill>
              </a:defRPr>
            </a:pPr>
            <a:r>
              <a:t>Patient booking dashboard with profile and appointment history.</a:t>
            </a:r>
          </a:p>
          <a:p>
            <a:pPr>
              <a:defRPr sz="2200">
                <a:solidFill>
                  <a:srgbClr val="465266"/>
                </a:solidFill>
              </a:defRPr>
            </a:pPr>
            <a:r>
              <a:t>Doctor analytics dashboard with KPIs and risk trends.</a:t>
            </a:r>
          </a:p>
          <a:p>
            <a:pPr>
              <a:defRPr sz="2200">
                <a:solidFill>
                  <a:srgbClr val="465266"/>
                </a:solidFill>
              </a:defRPr>
            </a:pPr>
            <a:r>
              <a:t>Theme support: Light/Dark mode with animated transitions.</a:t>
            </a:r>
          </a:p>
          <a:p>
            <a:pPr>
              <a:defRPr sz="2200">
                <a:solidFill>
                  <a:srgbClr val="465266"/>
                </a:solidFill>
              </a:defRPr>
            </a:pPr>
            <a:r>
              <a:t>Custom modal popups for login/logout confirmations.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A56"/>
                </a:solidFill>
              </a:defRPr>
            </a:pPr>
            <a:r>
              <a:t>Recent UI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465266"/>
                </a:solidFill>
              </a:defRPr>
            </a:pPr>
            <a:r>
              <a:t>Top-right compact controls: theme dropdown + logout.</a:t>
            </a:r>
          </a:p>
          <a:p>
            <a:pPr>
              <a:defRPr sz="2200">
                <a:solidFill>
                  <a:srgbClr val="465266"/>
                </a:solidFill>
              </a:defRPr>
            </a:pPr>
            <a:r>
              <a:t>Consistent custom dialog style replacing browser alerts.</a:t>
            </a:r>
          </a:p>
          <a:p>
            <a:pPr>
              <a:defRPr sz="2200">
                <a:solidFill>
                  <a:srgbClr val="465266"/>
                </a:solidFill>
              </a:defRPr>
            </a:pPr>
            <a:r>
              <a:t>Improved responsive behavior across dashboard pages.</a:t>
            </a:r>
          </a:p>
          <a:p>
            <a:pPr>
              <a:defRPr sz="2200">
                <a:solidFill>
                  <a:srgbClr val="465266"/>
                </a:solidFill>
              </a:defRPr>
            </a:pPr>
            <a:r>
              <a:t>Smooth and visible mode switch animations.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A56"/>
                </a:solidFill>
              </a:defRPr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465266"/>
                </a:solidFill>
              </a:defRPr>
            </a:pPr>
            <a:r>
              <a:t>Deploy with role-based access control and audit logs.</a:t>
            </a:r>
          </a:p>
          <a:p>
            <a:pPr>
              <a:defRPr sz="2200">
                <a:solidFill>
                  <a:srgbClr val="465266"/>
                </a:solidFill>
              </a:defRPr>
            </a:pPr>
            <a:r>
              <a:t>Integrate SMS/email reminders for appointment slots.</a:t>
            </a:r>
          </a:p>
          <a:p>
            <a:pPr>
              <a:defRPr sz="2200">
                <a:solidFill>
                  <a:srgbClr val="465266"/>
                </a:solidFill>
              </a:defRPr>
            </a:pPr>
            <a:r>
              <a:t>Expand model with larger clinical datasets.</a:t>
            </a:r>
          </a:p>
          <a:p>
            <a:pPr>
              <a:defRPr sz="2200">
                <a:solidFill>
                  <a:srgbClr val="465266"/>
                </a:solidFill>
              </a:defRPr>
            </a:pPr>
            <a:r>
              <a:t>Add explainable AI visual reports for doctors.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A56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465266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